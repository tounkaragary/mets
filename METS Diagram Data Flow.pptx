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6DE"/>
    <a:srgbClr val="F5F9FD"/>
    <a:srgbClr val="FDF5FC"/>
    <a:srgbClr val="F8E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00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D61E27-4FB7-D644-05F6-6893649D0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AA1BF1-B9AA-9AEB-ABFD-1D3534514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E6502D-01EB-9C1A-025E-FB2D4044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E4C0FD-EC7A-8137-1876-6E92BE41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391525-3924-2A81-0210-CDC3A7C2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4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1844B-9B66-9D88-5D36-A59E49BF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F672F0-9577-D5D0-B0CA-0C1F22351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7311D9-6574-6680-8884-C952F603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98FBD8-2A28-0430-BB9C-7AF15181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F6BEAC-5D54-C1E6-55C4-E2FCDA7E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6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1FBB7-AD02-D8FA-D52C-01C573D1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EB3E2D-2AE1-0A43-5BDD-F0B1C3AA9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C4D61-6342-9ABD-3920-6F352AA5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0163FC-4690-B663-F9C4-1C2924BB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5C390F-4BE6-80C7-36F1-2EB5A583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7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4C08B8-1310-F597-14C0-9F4448C2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16EE14-6EFF-AADF-2660-151B1E765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FCB410-0EA0-8B1F-DB4A-A35BED1D4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E15780-7E45-91C6-47BC-39AC2B26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3C39FB-C552-CE27-6847-0EAA2C41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0D29E3-93D2-CB61-8CA2-B846B441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9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CB130-A102-12A9-9A05-A30E1E42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7D66CF-4E17-2C8F-E9CD-F6D1637E2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837EA7-4D84-79DB-4C0E-EBFE2FA7D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F73D6D7-5155-980A-0DA6-F74CF08B1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78C1FF2-ED29-B843-35A4-C7A7ADC0E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EFDF3A-8B90-C59C-1BC7-991EF5FF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0E2EC7-0077-0632-CECD-CC9F778C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DFB52F-6928-2304-32DE-DD043AE1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7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B07643-EF5A-C691-C963-E2FD9191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698788-C143-605E-1EC6-B1185A98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4CAF1E-DA25-EF3D-9EEC-73014BF2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69BA4E-1BC6-A489-1C76-8B766305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5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538560-5E9B-6128-1D7C-31D2C3E8F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6AA322-B33D-F6D9-B135-2C2A4B57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7978A4-8C3A-3A36-5AFC-5E7BDB94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4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B43B6-7F2F-AA71-7EDA-8EA93751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B9813-3110-3B18-0A01-19622652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F8DA85-427E-8CF5-774D-5940E1DFE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F2BF21-0B93-1969-7D97-2DE9C892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B22899-4933-52A8-9BF4-903F1C18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832562-0BF3-6DB0-F3F0-E17C4E5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12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697A5C-655F-F1F5-7E62-2ABBBB20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7482C4E-F5FB-9DB9-2D13-B36BFF149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FE2F82-3E28-D1E3-5239-980414703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CB9742-4426-A9C5-A3CD-4EB4282C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85C3D6-087F-AD92-A02B-805B6248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FAA733-31DE-2A4D-3921-B904DB02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188F8D-7B59-F6AD-EC46-4D321EC7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F8475B-8622-8640-0AF8-F679FEE60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21230-D4F7-A3C8-56DD-4C7819DC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9979E8-B52D-6CE9-83E2-AEEB92E36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F68671-035C-2284-AC95-5E0D31F5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6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1B26CD8-47EE-8092-2301-E8B86984B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A924AE-61F9-9A7A-8D6F-098DD6AA4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84B485-7EE7-2026-D342-87EC4A10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428182-83AC-0A59-711F-9DDF2F81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2C773A-3BD5-2266-4817-AFD92F2D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2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D484A3-23EB-0363-76B7-DE51E75E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8B4E8C-A8BE-F93D-10CF-C2D1D0913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40B3BF-D7B5-C4A8-59A4-A3134FB75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0AB6F-264C-5F5C-7015-28F1163A5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6AE844-8A19-699B-5352-E6C229E15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5E8FC-5EAF-2924-86BA-A7D37AAF21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61603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42324" y="409694"/>
            <a:ext cx="39244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Architecture METS – Flux </a:t>
            </a:r>
            <a:r>
              <a:rPr dirty="0" err="1"/>
              <a:t>opérationnel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706880" y="1005840"/>
            <a:ext cx="1371600" cy="2743200"/>
          </a:xfrm>
          <a:prstGeom prst="roundRect">
            <a:avLst/>
          </a:prstGeom>
          <a:solidFill>
            <a:srgbClr val="2173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dirty="0"/>
              <a:t>📱</a:t>
            </a:r>
            <a:br>
              <a:rPr sz="1000" dirty="0"/>
            </a:br>
            <a:r>
              <a:rPr sz="1400" dirty="0" err="1"/>
              <a:t>Collecte</a:t>
            </a:r>
            <a:br>
              <a:rPr sz="1400" dirty="0"/>
            </a:br>
            <a:r>
              <a:rPr sz="1400" dirty="0" err="1"/>
              <a:t>KoboCollect</a:t>
            </a:r>
            <a:endParaRPr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3169920" y="1005840"/>
            <a:ext cx="1371600" cy="2743200"/>
          </a:xfrm>
          <a:prstGeom prst="roundRect">
            <a:avLst/>
          </a:prstGeom>
          <a:solidFill>
            <a:srgbClr val="2173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🗄️</a:t>
            </a:r>
            <a:br>
              <a:rPr sz="1400" dirty="0"/>
            </a:br>
            <a:r>
              <a:rPr sz="1400" dirty="0" err="1"/>
              <a:t>Serveur</a:t>
            </a:r>
            <a:r>
              <a:rPr sz="1400" dirty="0"/>
              <a:t> Kobo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32960" y="1005840"/>
            <a:ext cx="1371600" cy="274320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🔌</a:t>
            </a:r>
            <a:br>
              <a:rPr sz="1400" dirty="0"/>
            </a:br>
            <a:r>
              <a:rPr sz="1400" dirty="0"/>
              <a:t>API Kobo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005840"/>
            <a:ext cx="1371600" cy="274320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⚙️</a:t>
            </a:r>
            <a:br>
              <a:rPr sz="1400" dirty="0"/>
            </a:br>
            <a:r>
              <a:rPr sz="1400" dirty="0" err="1"/>
              <a:t>Serveur</a:t>
            </a:r>
            <a:r>
              <a:rPr sz="1400" dirty="0"/>
              <a:t>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59040" y="1005840"/>
            <a:ext cx="1371600" cy="274320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💾</a:t>
            </a:r>
            <a:br>
              <a:rPr sz="1400" dirty="0"/>
            </a:br>
            <a:r>
              <a:rPr sz="1400" dirty="0" err="1"/>
              <a:t>BigQuery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9022079" y="1005840"/>
            <a:ext cx="1371600" cy="2743200"/>
          </a:xfrm>
          <a:prstGeom prst="roundRect">
            <a:avLst/>
          </a:prstGeom>
          <a:solidFill>
            <a:srgbClr val="9B59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📊</a:t>
            </a:r>
            <a:br>
              <a:rPr sz="1400" dirty="0"/>
            </a:br>
            <a:r>
              <a:rPr sz="1400" dirty="0"/>
              <a:t>Looker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78480" y="2377440"/>
            <a:ext cx="91440" cy="0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41520" y="2377440"/>
            <a:ext cx="91440" cy="0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04560" y="2377440"/>
            <a:ext cx="91440" cy="0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67600" y="2377440"/>
            <a:ext cx="91440" cy="0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30641" y="2377440"/>
            <a:ext cx="91439" cy="0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87439" y="4361688"/>
            <a:ext cx="1371600" cy="22860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DHIS2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 flipV="1">
            <a:off x="7193280" y="3566160"/>
            <a:ext cx="0" cy="7955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64079" y="5285231"/>
            <a:ext cx="8046720" cy="731520"/>
          </a:xfrm>
          <a:prstGeom prst="roundRect">
            <a:avLst/>
          </a:prstGeom>
          <a:solidFill>
            <a:srgbClr val="A0A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Monitoring &amp; </a:t>
            </a:r>
            <a:r>
              <a:rPr dirty="0" err="1"/>
              <a:t>Journalisation</a:t>
            </a:r>
            <a:r>
              <a:rPr dirty="0"/>
              <a:t>  |  API  |  CRON  |  </a:t>
            </a:r>
            <a:r>
              <a:rPr dirty="0" err="1"/>
              <a:t>Qualité</a:t>
            </a:r>
            <a:r>
              <a:rPr dirty="0"/>
              <a:t>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5561" y="3895344"/>
            <a:ext cx="320040" cy="201168"/>
          </a:xfrm>
          <a:prstGeom prst="rect">
            <a:avLst/>
          </a:prstGeom>
          <a:solidFill>
            <a:srgbClr val="2173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9881" y="3826764"/>
            <a:ext cx="10278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Collecte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455920" y="3913632"/>
            <a:ext cx="320040" cy="201168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75960" y="3822192"/>
            <a:ext cx="12490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Traitement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7353300" y="3886200"/>
            <a:ext cx="320040" cy="201168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6200" y="3813048"/>
            <a:ext cx="110158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Stockage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02622" y="3913632"/>
            <a:ext cx="320040" cy="201168"/>
          </a:xfrm>
          <a:prstGeom prst="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5232" y="3794760"/>
            <a:ext cx="14526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Visualization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32660" y="4805172"/>
            <a:ext cx="320040" cy="201168"/>
          </a:xfrm>
          <a:prstGeom prst="rect">
            <a:avLst/>
          </a:prstGeom>
          <a:solidFill>
            <a:srgbClr val="A0A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21280" y="4722876"/>
            <a:ext cx="124585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0229214-7ED4-9706-DF3E-BB87C1A6FD90}"/>
              </a:ext>
            </a:extLst>
          </p:cNvPr>
          <p:cNvSpPr/>
          <p:nvPr/>
        </p:nvSpPr>
        <p:spPr>
          <a:xfrm>
            <a:off x="182880" y="466008"/>
            <a:ext cx="1833880" cy="31597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9FBD35C-A929-2001-2CC0-A81F23C37E1E}"/>
              </a:ext>
            </a:extLst>
          </p:cNvPr>
          <p:cNvSpPr/>
          <p:nvPr/>
        </p:nvSpPr>
        <p:spPr>
          <a:xfrm>
            <a:off x="2174240" y="466008"/>
            <a:ext cx="1833880" cy="31597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5A89691-D8F3-81DB-E043-186CE1959070}"/>
              </a:ext>
            </a:extLst>
          </p:cNvPr>
          <p:cNvSpPr/>
          <p:nvPr/>
        </p:nvSpPr>
        <p:spPr>
          <a:xfrm>
            <a:off x="4165600" y="466008"/>
            <a:ext cx="1833880" cy="3159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5FB15AC-C440-7C53-3752-6BB973AC7ABE}"/>
              </a:ext>
            </a:extLst>
          </p:cNvPr>
          <p:cNvSpPr/>
          <p:nvPr/>
        </p:nvSpPr>
        <p:spPr>
          <a:xfrm>
            <a:off x="6156960" y="466008"/>
            <a:ext cx="1833880" cy="3159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0E1846F-86F4-3508-CE69-53AE920EAA75}"/>
              </a:ext>
            </a:extLst>
          </p:cNvPr>
          <p:cNvSpPr/>
          <p:nvPr/>
        </p:nvSpPr>
        <p:spPr>
          <a:xfrm>
            <a:off x="8148320" y="466008"/>
            <a:ext cx="1833880" cy="3159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A9AA3A9-FB3D-74E7-D481-CB3E3D81E054}"/>
              </a:ext>
            </a:extLst>
          </p:cNvPr>
          <p:cNvSpPr/>
          <p:nvPr/>
        </p:nvSpPr>
        <p:spPr>
          <a:xfrm>
            <a:off x="10139680" y="466008"/>
            <a:ext cx="1833880" cy="31597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472C614-5D7C-9A72-A8E9-194F07D658AA}"/>
              </a:ext>
            </a:extLst>
          </p:cNvPr>
          <p:cNvSpPr/>
          <p:nvPr/>
        </p:nvSpPr>
        <p:spPr>
          <a:xfrm>
            <a:off x="311421" y="1257537"/>
            <a:ext cx="1592038" cy="263267"/>
          </a:xfrm>
          <a:prstGeom prst="roundRect">
            <a:avLst/>
          </a:prstGeom>
          <a:solidFill>
            <a:srgbClr val="3676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1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1E153DF-E579-B186-3541-392C7358DC0E}"/>
              </a:ext>
            </a:extLst>
          </p:cNvPr>
          <p:cNvSpPr/>
          <p:nvPr/>
        </p:nvSpPr>
        <p:spPr>
          <a:xfrm>
            <a:off x="2295161" y="1257537"/>
            <a:ext cx="1592038" cy="263267"/>
          </a:xfrm>
          <a:prstGeom prst="roundRect">
            <a:avLst/>
          </a:prstGeom>
          <a:solidFill>
            <a:srgbClr val="3676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2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E726F72-94F0-C5BF-105A-476D27EB936C}"/>
              </a:ext>
            </a:extLst>
          </p:cNvPr>
          <p:cNvSpPr/>
          <p:nvPr/>
        </p:nvSpPr>
        <p:spPr>
          <a:xfrm>
            <a:off x="4286521" y="1257537"/>
            <a:ext cx="1592038" cy="26326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3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E549807-AF80-EB46-F91E-811378CF46B8}"/>
              </a:ext>
            </a:extLst>
          </p:cNvPr>
          <p:cNvSpPr/>
          <p:nvPr/>
        </p:nvSpPr>
        <p:spPr>
          <a:xfrm>
            <a:off x="6277881" y="1257537"/>
            <a:ext cx="1592038" cy="26326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4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9FEF67B-DA45-2862-433F-B9AC8201B0A2}"/>
              </a:ext>
            </a:extLst>
          </p:cNvPr>
          <p:cNvSpPr/>
          <p:nvPr/>
        </p:nvSpPr>
        <p:spPr>
          <a:xfrm>
            <a:off x="8269241" y="1257537"/>
            <a:ext cx="1592038" cy="26326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5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39DF0F7-544B-7379-DA03-65757308866F}"/>
              </a:ext>
            </a:extLst>
          </p:cNvPr>
          <p:cNvSpPr/>
          <p:nvPr/>
        </p:nvSpPr>
        <p:spPr>
          <a:xfrm>
            <a:off x="10260601" y="1257537"/>
            <a:ext cx="1592038" cy="26326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6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78475B5-63DB-969F-46D8-69192C83B61E}"/>
              </a:ext>
            </a:extLst>
          </p:cNvPr>
          <p:cNvSpPr/>
          <p:nvPr/>
        </p:nvSpPr>
        <p:spPr>
          <a:xfrm>
            <a:off x="311421" y="1971898"/>
            <a:ext cx="1592038" cy="28141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Smartphone / Tablette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62C626E-1A30-EB42-D380-CD577763A38C}"/>
              </a:ext>
            </a:extLst>
          </p:cNvPr>
          <p:cNvSpPr txBox="1"/>
          <p:nvPr/>
        </p:nvSpPr>
        <p:spPr>
          <a:xfrm>
            <a:off x="311421" y="1557760"/>
            <a:ext cx="15920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Agents de terrain</a:t>
            </a:r>
          </a:p>
          <a:p>
            <a:pPr algn="ctr"/>
            <a:r>
              <a:rPr lang="fr-FR" sz="1000" noProof="0" dirty="0">
                <a:solidFill>
                  <a:srgbClr val="0070C0"/>
                </a:solidFill>
              </a:rPr>
              <a:t>Collecte de données</a:t>
            </a:r>
          </a:p>
        </p:txBody>
      </p:sp>
      <p:pic>
        <p:nvPicPr>
          <p:cNvPr id="19" name="Image 18" descr="Une image contenant texte, logo, symbole, Police&#10;&#10;Le contenu généré par l’IA peut être incorrect.">
            <a:extLst>
              <a:ext uri="{FF2B5EF4-FFF2-40B4-BE49-F238E27FC236}">
                <a16:creationId xmlns:a16="http://schemas.microsoft.com/office/drawing/2014/main" id="{C315264B-5A35-02FE-1490-917C95DC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33" y="655957"/>
            <a:ext cx="522173" cy="465552"/>
          </a:xfrm>
          <a:prstGeom prst="rect">
            <a:avLst/>
          </a:prstGeom>
        </p:spPr>
      </p:pic>
      <p:pic>
        <p:nvPicPr>
          <p:cNvPr id="21" name="Image 20" descr="Une image contenant texte, symbole, logo, Police&#10;&#10;Le contenu généré par l’IA peut être incorrect.">
            <a:extLst>
              <a:ext uri="{FF2B5EF4-FFF2-40B4-BE49-F238E27FC236}">
                <a16:creationId xmlns:a16="http://schemas.microsoft.com/office/drawing/2014/main" id="{8C67E77D-6DDA-A553-F121-4E6A17E6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793" y="589506"/>
            <a:ext cx="490773" cy="529016"/>
          </a:xfrm>
          <a:prstGeom prst="rect">
            <a:avLst/>
          </a:prstGeom>
        </p:spPr>
      </p:pic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4E80EFA-64A9-E6AD-6D03-C4F7AAA0B818}"/>
              </a:ext>
            </a:extLst>
          </p:cNvPr>
          <p:cNvSpPr/>
          <p:nvPr/>
        </p:nvSpPr>
        <p:spPr>
          <a:xfrm>
            <a:off x="1430132" y="709234"/>
            <a:ext cx="1330736" cy="289560"/>
          </a:xfrm>
          <a:prstGeom prst="roundRect">
            <a:avLst/>
          </a:prstGeom>
          <a:solidFill>
            <a:srgbClr val="3676DE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Formulaire </a:t>
            </a:r>
            <a:r>
              <a:rPr lang="fr-FR" sz="800" b="1" noProof="0" dirty="0" err="1"/>
              <a:t>KoboCollect</a:t>
            </a:r>
            <a:endParaRPr lang="fr-FR" sz="800" b="1" noProof="0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01BD580-FB5B-9492-E593-DD334D25000F}"/>
              </a:ext>
            </a:extLst>
          </p:cNvPr>
          <p:cNvCxnSpPr/>
          <p:nvPr/>
        </p:nvCxnSpPr>
        <p:spPr>
          <a:xfrm>
            <a:off x="1751601" y="1065448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CABB491-7195-51A3-21AD-20D6FC71B6D0}"/>
              </a:ext>
            </a:extLst>
          </p:cNvPr>
          <p:cNvSpPr/>
          <p:nvPr/>
        </p:nvSpPr>
        <p:spPr>
          <a:xfrm>
            <a:off x="2288540" y="1971898"/>
            <a:ext cx="1574799" cy="67256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Réception formulaires</a:t>
            </a:r>
          </a:p>
          <a:p>
            <a:r>
              <a:rPr lang="fr-FR" sz="1000" dirty="0">
                <a:solidFill>
                  <a:schemeClr val="tx1"/>
                </a:solidFill>
              </a:rPr>
              <a:t>Stockage données terrain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53529F9-0711-24BB-2AAA-0404B2902EF4}"/>
              </a:ext>
            </a:extLst>
          </p:cNvPr>
          <p:cNvSpPr/>
          <p:nvPr/>
        </p:nvSpPr>
        <p:spPr>
          <a:xfrm>
            <a:off x="4283178" y="1971898"/>
            <a:ext cx="1598727" cy="67257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Accès structuré</a:t>
            </a:r>
          </a:p>
          <a:p>
            <a:r>
              <a:rPr lang="fr-FR" sz="1000" dirty="0">
                <a:solidFill>
                  <a:schemeClr val="tx1"/>
                </a:solidFill>
              </a:rPr>
              <a:t>Points d’API pour extraction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5AD98F3-C12E-FB36-A9E5-056E8697E5D4}"/>
              </a:ext>
            </a:extLst>
          </p:cNvPr>
          <p:cNvSpPr/>
          <p:nvPr/>
        </p:nvSpPr>
        <p:spPr>
          <a:xfrm>
            <a:off x="6274537" y="1971899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Nettoyage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07EF715-4EDA-723A-9369-38459FE1A04D}"/>
              </a:ext>
            </a:extLst>
          </p:cNvPr>
          <p:cNvSpPr txBox="1"/>
          <p:nvPr/>
        </p:nvSpPr>
        <p:spPr>
          <a:xfrm>
            <a:off x="229516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Serveur </a:t>
            </a:r>
            <a:r>
              <a:rPr lang="fr-FR" sz="1000" b="1" noProof="0" dirty="0" err="1"/>
              <a:t>Kobo</a:t>
            </a:r>
            <a:endParaRPr lang="fr-FR" sz="1000" b="1" noProof="0" dirty="0"/>
          </a:p>
          <a:p>
            <a:pPr algn="ctr"/>
            <a:r>
              <a:rPr lang="fr-FR" sz="1000" dirty="0" err="1">
                <a:solidFill>
                  <a:srgbClr val="0070C0"/>
                </a:solidFill>
              </a:rPr>
              <a:t>Kobotoolbox</a:t>
            </a:r>
            <a:endParaRPr lang="fr-FR" sz="1000" noProof="0" dirty="0">
              <a:solidFill>
                <a:srgbClr val="0070C0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5A2F2E0-7688-5C38-73FD-2B38EEF566F6}"/>
              </a:ext>
            </a:extLst>
          </p:cNvPr>
          <p:cNvSpPr txBox="1"/>
          <p:nvPr/>
        </p:nvSpPr>
        <p:spPr>
          <a:xfrm>
            <a:off x="4286521" y="1557760"/>
            <a:ext cx="15920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API KOBO</a:t>
            </a:r>
          </a:p>
          <a:p>
            <a:pPr algn="ctr"/>
            <a:r>
              <a:rPr lang="fr-FR" sz="1000" noProof="0" dirty="0">
                <a:solidFill>
                  <a:schemeClr val="accent2"/>
                </a:solidFill>
              </a:rPr>
              <a:t>REST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DDF8806-922F-F804-8B14-5C2F82C8478F}"/>
              </a:ext>
            </a:extLst>
          </p:cNvPr>
          <p:cNvSpPr txBox="1"/>
          <p:nvPr/>
        </p:nvSpPr>
        <p:spPr>
          <a:xfrm>
            <a:off x="627788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Serveur PHP</a:t>
            </a:r>
          </a:p>
          <a:p>
            <a:pPr algn="ctr"/>
            <a:r>
              <a:rPr lang="fr-FR" sz="1000" noProof="0" dirty="0">
                <a:solidFill>
                  <a:schemeClr val="accent2"/>
                </a:solidFill>
              </a:rPr>
              <a:t>Scripts intégration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888CA6D-FF92-2E13-2198-3330275DD522}"/>
              </a:ext>
            </a:extLst>
          </p:cNvPr>
          <p:cNvSpPr txBox="1"/>
          <p:nvPr/>
        </p:nvSpPr>
        <p:spPr>
          <a:xfrm>
            <a:off x="826924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 err="1"/>
              <a:t>Bigquery</a:t>
            </a:r>
            <a:endParaRPr lang="fr-FR" sz="1000" b="1" noProof="0" dirty="0"/>
          </a:p>
          <a:p>
            <a:pPr algn="ctr"/>
            <a:r>
              <a:rPr lang="fr-FR" sz="1000" noProof="0" dirty="0">
                <a:solidFill>
                  <a:schemeClr val="accent6"/>
                </a:solidFill>
              </a:rPr>
              <a:t>Stockage &amp; Analyse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04AACBE-380C-5503-27CF-89E70CD4343A}"/>
              </a:ext>
            </a:extLst>
          </p:cNvPr>
          <p:cNvSpPr txBox="1"/>
          <p:nvPr/>
        </p:nvSpPr>
        <p:spPr>
          <a:xfrm>
            <a:off x="1026060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Looker Studio</a:t>
            </a:r>
          </a:p>
          <a:p>
            <a:pPr algn="ctr"/>
            <a:r>
              <a:rPr lang="fr-FR" sz="1000" noProof="0" dirty="0">
                <a:solidFill>
                  <a:schemeClr val="accent5"/>
                </a:solidFill>
              </a:rPr>
              <a:t>Tableau de bord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ED29D272-FC19-446D-C256-E8ADC152AEFE}"/>
              </a:ext>
            </a:extLst>
          </p:cNvPr>
          <p:cNvSpPr/>
          <p:nvPr/>
        </p:nvSpPr>
        <p:spPr>
          <a:xfrm>
            <a:off x="303800" y="2328557"/>
            <a:ext cx="1592038" cy="263267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Géolocalisation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E702391-3AE7-6D43-538B-034C05DA6748}"/>
              </a:ext>
            </a:extLst>
          </p:cNvPr>
          <p:cNvSpPr/>
          <p:nvPr/>
        </p:nvSpPr>
        <p:spPr>
          <a:xfrm>
            <a:off x="303800" y="2667073"/>
            <a:ext cx="1592038" cy="260925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Statuts &amp; remarques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A2EBBFC8-F8A5-C6A1-7F87-709EEC17D2B0}"/>
              </a:ext>
            </a:extLst>
          </p:cNvPr>
          <p:cNvSpPr/>
          <p:nvPr/>
        </p:nvSpPr>
        <p:spPr>
          <a:xfrm>
            <a:off x="6274537" y="2181238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Mapping champs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33C98E48-7BBA-AE8C-CD47-A6B63A857CDE}"/>
              </a:ext>
            </a:extLst>
          </p:cNvPr>
          <p:cNvSpPr/>
          <p:nvPr/>
        </p:nvSpPr>
        <p:spPr>
          <a:xfrm>
            <a:off x="6274537" y="2400738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Gestion erreurs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D77BEC38-827D-F0E8-34D9-9E6D88CEE191}"/>
              </a:ext>
            </a:extLst>
          </p:cNvPr>
          <p:cNvSpPr/>
          <p:nvPr/>
        </p:nvSpPr>
        <p:spPr>
          <a:xfrm>
            <a:off x="6274537" y="2620239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Logs exécution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06D7CEC4-5F06-3BAC-69D5-4B69E1DA3017}"/>
              </a:ext>
            </a:extLst>
          </p:cNvPr>
          <p:cNvSpPr/>
          <p:nvPr/>
        </p:nvSpPr>
        <p:spPr>
          <a:xfrm>
            <a:off x="10267418" y="1971898"/>
            <a:ext cx="785800" cy="45413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noProof="0" dirty="0">
                <a:solidFill>
                  <a:schemeClr val="tx1"/>
                </a:solidFill>
              </a:rPr>
              <a:t>Inventaire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D19EFFD7-7AC3-F084-E11A-E015B792C0A7}"/>
              </a:ext>
            </a:extLst>
          </p:cNvPr>
          <p:cNvSpPr/>
          <p:nvPr/>
        </p:nvSpPr>
        <p:spPr>
          <a:xfrm>
            <a:off x="11120120" y="1971898"/>
            <a:ext cx="691879" cy="45413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Carte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74CA7B28-A386-735F-34C6-86759F708C4B}"/>
              </a:ext>
            </a:extLst>
          </p:cNvPr>
          <p:cNvSpPr/>
          <p:nvPr/>
        </p:nvSpPr>
        <p:spPr>
          <a:xfrm>
            <a:off x="10267418" y="2498318"/>
            <a:ext cx="785800" cy="45413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noProof="0" dirty="0">
                <a:solidFill>
                  <a:schemeClr val="tx1"/>
                </a:solidFill>
              </a:rPr>
              <a:t>Pannes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260CD8B9-A79E-BDB4-70BD-72D554D1867F}"/>
              </a:ext>
            </a:extLst>
          </p:cNvPr>
          <p:cNvSpPr/>
          <p:nvPr/>
        </p:nvSpPr>
        <p:spPr>
          <a:xfrm>
            <a:off x="11116649" y="2498318"/>
            <a:ext cx="691879" cy="45412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KPI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pic>
        <p:nvPicPr>
          <p:cNvPr id="50" name="Image 49" descr="Une image contenant logo, symbole, texte, Police&#10;&#10;Le contenu généré par l’IA peut être incorrect.">
            <a:extLst>
              <a:ext uri="{FF2B5EF4-FFF2-40B4-BE49-F238E27FC236}">
                <a16:creationId xmlns:a16="http://schemas.microsoft.com/office/drawing/2014/main" id="{946FDA99-2D05-A764-90A6-9EA2730B4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240" y="586367"/>
            <a:ext cx="503503" cy="532156"/>
          </a:xfrm>
          <a:prstGeom prst="rect">
            <a:avLst/>
          </a:prstGeom>
        </p:spPr>
      </p:pic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77FABF99-6F34-0E55-E92F-23FD41C3F487}"/>
              </a:ext>
            </a:extLst>
          </p:cNvPr>
          <p:cNvSpPr/>
          <p:nvPr/>
        </p:nvSpPr>
        <p:spPr>
          <a:xfrm>
            <a:off x="8269241" y="1971899"/>
            <a:ext cx="1592039" cy="146149"/>
          </a:xfrm>
          <a:prstGeom prst="roundRect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b="1" noProof="0" dirty="0">
                <a:solidFill>
                  <a:schemeClr val="bg1"/>
                </a:solidFill>
              </a:rPr>
              <a:t>Stockage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96E919D2-1ED9-A21B-DB77-8419462F1D3D}"/>
              </a:ext>
            </a:extLst>
          </p:cNvPr>
          <p:cNvSpPr/>
          <p:nvPr/>
        </p:nvSpPr>
        <p:spPr>
          <a:xfrm>
            <a:off x="8269241" y="216599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Equipements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34A5B529-85D7-81FB-84FB-6E5F6CB7DA7C}"/>
              </a:ext>
            </a:extLst>
          </p:cNvPr>
          <p:cNvSpPr/>
          <p:nvPr/>
        </p:nvSpPr>
        <p:spPr>
          <a:xfrm>
            <a:off x="8269241" y="234993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>
                <a:solidFill>
                  <a:schemeClr val="tx1"/>
                </a:solidFill>
              </a:rPr>
              <a:t>Interventions</a:t>
            </a: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E1889960-71F2-7E24-0D2B-9B61E6478592}"/>
              </a:ext>
            </a:extLst>
          </p:cNvPr>
          <p:cNvSpPr/>
          <p:nvPr/>
        </p:nvSpPr>
        <p:spPr>
          <a:xfrm>
            <a:off x="8269241" y="2533879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Historiques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512908A6-9266-9C7B-0868-80C8200DFAED}"/>
              </a:ext>
            </a:extLst>
          </p:cNvPr>
          <p:cNvSpPr/>
          <p:nvPr/>
        </p:nvSpPr>
        <p:spPr>
          <a:xfrm>
            <a:off x="8269241" y="2733899"/>
            <a:ext cx="1592039" cy="146149"/>
          </a:xfrm>
          <a:prstGeom prst="roundRect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b="1" dirty="0">
                <a:solidFill>
                  <a:schemeClr val="bg1"/>
                </a:solidFill>
              </a:rPr>
              <a:t>Traitement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EC67A5C-45E4-25D9-9FEE-BFB8532F79BF}"/>
              </a:ext>
            </a:extLst>
          </p:cNvPr>
          <p:cNvSpPr/>
          <p:nvPr/>
        </p:nvSpPr>
        <p:spPr>
          <a:xfrm>
            <a:off x="8269241" y="291275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Requêtes SQL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EA0D4BC9-8D60-62CD-52ED-FAE641A0310F}"/>
              </a:ext>
            </a:extLst>
          </p:cNvPr>
          <p:cNvSpPr/>
          <p:nvPr/>
        </p:nvSpPr>
        <p:spPr>
          <a:xfrm>
            <a:off x="8269241" y="310177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>
                <a:solidFill>
                  <a:schemeClr val="tx1"/>
                </a:solidFill>
              </a:rPr>
              <a:t>Agrégations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25D3BD92-AF5F-0DF4-C863-0EB195A1DD25}"/>
              </a:ext>
            </a:extLst>
          </p:cNvPr>
          <p:cNvSpPr/>
          <p:nvPr/>
        </p:nvSpPr>
        <p:spPr>
          <a:xfrm>
            <a:off x="8269241" y="3300959"/>
            <a:ext cx="1592039" cy="146149"/>
          </a:xfrm>
          <a:prstGeom prst="roundRect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b="1" dirty="0" err="1">
                <a:solidFill>
                  <a:schemeClr val="bg1"/>
                </a:solidFill>
              </a:rPr>
              <a:t>Reporting</a:t>
            </a:r>
            <a:endParaRPr lang="fr-FR" sz="1000" b="1" dirty="0">
              <a:solidFill>
                <a:schemeClr val="bg1"/>
              </a:solidFill>
            </a:endParaRPr>
          </a:p>
        </p:txBody>
      </p:sp>
      <p:pic>
        <p:nvPicPr>
          <p:cNvPr id="63" name="Image 62">
            <a:extLst>
              <a:ext uri="{FF2B5EF4-FFF2-40B4-BE49-F238E27FC236}">
                <a16:creationId xmlns:a16="http://schemas.microsoft.com/office/drawing/2014/main" id="{377634F8-78EB-6268-2620-1A4EDCC2E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535" y="580615"/>
            <a:ext cx="527671" cy="537907"/>
          </a:xfrm>
          <a:prstGeom prst="rect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028B8D05-C4B9-AFF4-A026-6288EC10E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095" y="594039"/>
            <a:ext cx="498889" cy="524483"/>
          </a:xfrm>
          <a:prstGeom prst="rect">
            <a:avLst/>
          </a:prstGeom>
        </p:spPr>
      </p:pic>
      <p:pic>
        <p:nvPicPr>
          <p:cNvPr id="67" name="Image 66">
            <a:extLst>
              <a:ext uri="{FF2B5EF4-FFF2-40B4-BE49-F238E27FC236}">
                <a16:creationId xmlns:a16="http://schemas.microsoft.com/office/drawing/2014/main" id="{5A1A288C-709D-5AB7-D1FA-638CA0ADE5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664" r="1795"/>
          <a:stretch>
            <a:fillRect/>
          </a:stretch>
        </p:blipFill>
        <p:spPr>
          <a:xfrm>
            <a:off x="6820649" y="589507"/>
            <a:ext cx="497409" cy="529015"/>
          </a:xfrm>
          <a:prstGeom prst="rect">
            <a:avLst/>
          </a:prstGeom>
        </p:spPr>
      </p:pic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B8E4D642-A401-FD69-35E6-D45A2B022689}"/>
              </a:ext>
            </a:extLst>
          </p:cNvPr>
          <p:cNvSpPr/>
          <p:nvPr/>
        </p:nvSpPr>
        <p:spPr>
          <a:xfrm>
            <a:off x="3580087" y="709234"/>
            <a:ext cx="999802" cy="28956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Données JSON</a:t>
            </a:r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48AAF5C7-FB10-DEBC-5FE3-4AC963035CD3}"/>
              </a:ext>
            </a:extLst>
          </p:cNvPr>
          <p:cNvCxnSpPr/>
          <p:nvPr/>
        </p:nvCxnSpPr>
        <p:spPr>
          <a:xfrm>
            <a:off x="3821363" y="1065448"/>
            <a:ext cx="51525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71B26DB5-1A68-635E-933C-D27ECF27034F}"/>
              </a:ext>
            </a:extLst>
          </p:cNvPr>
          <p:cNvSpPr/>
          <p:nvPr/>
        </p:nvSpPr>
        <p:spPr>
          <a:xfrm>
            <a:off x="5641545" y="709234"/>
            <a:ext cx="908911" cy="28956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Requêtes API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6868D37A-4BDF-0752-C657-86C91602E840}"/>
              </a:ext>
            </a:extLst>
          </p:cNvPr>
          <p:cNvCxnSpPr/>
          <p:nvPr/>
        </p:nvCxnSpPr>
        <p:spPr>
          <a:xfrm>
            <a:off x="5860796" y="1065448"/>
            <a:ext cx="468411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901FB4E4-1AC1-1888-6848-519162E5D82F}"/>
              </a:ext>
            </a:extLst>
          </p:cNvPr>
          <p:cNvSpPr/>
          <p:nvPr/>
        </p:nvSpPr>
        <p:spPr>
          <a:xfrm>
            <a:off x="7552137" y="709234"/>
            <a:ext cx="999802" cy="289560"/>
          </a:xfrm>
          <a:prstGeom prst="round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Insertion / MAJ</a:t>
            </a:r>
          </a:p>
        </p:txBody>
      </p: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3E546A38-BCB2-E14F-8A8C-BCF7A1115CF6}"/>
              </a:ext>
            </a:extLst>
          </p:cNvPr>
          <p:cNvCxnSpPr/>
          <p:nvPr/>
        </p:nvCxnSpPr>
        <p:spPr>
          <a:xfrm>
            <a:off x="7793413" y="1065448"/>
            <a:ext cx="51525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79CB2556-4D0B-B163-2653-012950A6DA62}"/>
              </a:ext>
            </a:extLst>
          </p:cNvPr>
          <p:cNvSpPr/>
          <p:nvPr/>
        </p:nvSpPr>
        <p:spPr>
          <a:xfrm>
            <a:off x="9576279" y="709234"/>
            <a:ext cx="999802" cy="289560"/>
          </a:xfrm>
          <a:prstGeom prst="roundRect">
            <a:avLst/>
          </a:prstGeom>
          <a:solidFill>
            <a:schemeClr val="accent5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Connexion SQL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5A4E5EEC-E999-E4EC-6FAA-482A5FEFC9AF}"/>
              </a:ext>
            </a:extLst>
          </p:cNvPr>
          <p:cNvCxnSpPr/>
          <p:nvPr/>
        </p:nvCxnSpPr>
        <p:spPr>
          <a:xfrm>
            <a:off x="9817555" y="1065448"/>
            <a:ext cx="515252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 : coins arrondis 87">
            <a:extLst>
              <a:ext uri="{FF2B5EF4-FFF2-40B4-BE49-F238E27FC236}">
                <a16:creationId xmlns:a16="http://schemas.microsoft.com/office/drawing/2014/main" id="{CCC74406-8CA3-BA3B-4CFE-A3EFD0C9C690}"/>
              </a:ext>
            </a:extLst>
          </p:cNvPr>
          <p:cNvSpPr/>
          <p:nvPr/>
        </p:nvSpPr>
        <p:spPr>
          <a:xfrm>
            <a:off x="8149913" y="3724355"/>
            <a:ext cx="1832287" cy="5991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36B16142-CC8A-9BB2-3D9F-A1E8D771BE5B}"/>
              </a:ext>
            </a:extLst>
          </p:cNvPr>
          <p:cNvSpPr/>
          <p:nvPr/>
        </p:nvSpPr>
        <p:spPr>
          <a:xfrm>
            <a:off x="2135947" y="4774178"/>
            <a:ext cx="7920106" cy="1060856"/>
          </a:xfrm>
          <a:prstGeom prst="roundRect">
            <a:avLst/>
          </a:prstGeom>
          <a:solidFill>
            <a:srgbClr val="F5F9FD"/>
          </a:solidFill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FB3C216-3A4B-C906-1C29-AE9DCA94F592}"/>
              </a:ext>
            </a:extLst>
          </p:cNvPr>
          <p:cNvSpPr/>
          <p:nvPr/>
        </p:nvSpPr>
        <p:spPr>
          <a:xfrm>
            <a:off x="0" y="6087905"/>
            <a:ext cx="12192000" cy="770095"/>
          </a:xfrm>
          <a:prstGeom prst="rect">
            <a:avLst/>
          </a:prstGeom>
          <a:solidFill>
            <a:srgbClr val="F5F9F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BBB821-27E8-5710-F961-2FA622BB5D2F}"/>
              </a:ext>
            </a:extLst>
          </p:cNvPr>
          <p:cNvSpPr/>
          <p:nvPr/>
        </p:nvSpPr>
        <p:spPr>
          <a:xfrm>
            <a:off x="182880" y="6345534"/>
            <a:ext cx="11790680" cy="39054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3FD003D7-2E95-4FE5-0569-4C33D893A4E5}"/>
              </a:ext>
            </a:extLst>
          </p:cNvPr>
          <p:cNvGrpSpPr/>
          <p:nvPr/>
        </p:nvGrpSpPr>
        <p:grpSpPr>
          <a:xfrm>
            <a:off x="3216974" y="6420248"/>
            <a:ext cx="5879971" cy="246221"/>
            <a:chOff x="1138574" y="4568961"/>
            <a:chExt cx="5879971" cy="246221"/>
          </a:xfrm>
        </p:grpSpPr>
        <p:sp>
          <p:nvSpPr>
            <p:cNvPr id="91" name="Rectangle : coins arrondis 90">
              <a:extLst>
                <a:ext uri="{FF2B5EF4-FFF2-40B4-BE49-F238E27FC236}">
                  <a16:creationId xmlns:a16="http://schemas.microsoft.com/office/drawing/2014/main" id="{DC2CBC14-AC9F-9C57-3A74-12FC6E0900DF}"/>
                </a:ext>
              </a:extLst>
            </p:cNvPr>
            <p:cNvSpPr/>
            <p:nvPr/>
          </p:nvSpPr>
          <p:spPr>
            <a:xfrm>
              <a:off x="1138574" y="4595552"/>
              <a:ext cx="197466" cy="189325"/>
            </a:xfrm>
            <a:prstGeom prst="roundRect">
              <a:avLst/>
            </a:prstGeom>
            <a:solidFill>
              <a:srgbClr val="3676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2" name="ZoneTexte 91">
              <a:extLst>
                <a:ext uri="{FF2B5EF4-FFF2-40B4-BE49-F238E27FC236}">
                  <a16:creationId xmlns:a16="http://schemas.microsoft.com/office/drawing/2014/main" id="{FDDEFA95-FCBD-3EAF-B19A-23DBCA7094AF}"/>
                </a:ext>
              </a:extLst>
            </p:cNvPr>
            <p:cNvSpPr txBox="1"/>
            <p:nvPr/>
          </p:nvSpPr>
          <p:spPr>
            <a:xfrm>
              <a:off x="1281701" y="4568961"/>
              <a:ext cx="6849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Collecte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3" name="Rectangle : coins arrondis 92">
              <a:extLst>
                <a:ext uri="{FF2B5EF4-FFF2-40B4-BE49-F238E27FC236}">
                  <a16:creationId xmlns:a16="http://schemas.microsoft.com/office/drawing/2014/main" id="{5CAE115A-0B39-50C2-5022-394C8EEC6743}"/>
                </a:ext>
              </a:extLst>
            </p:cNvPr>
            <p:cNvSpPr/>
            <p:nvPr/>
          </p:nvSpPr>
          <p:spPr>
            <a:xfrm>
              <a:off x="2078374" y="4595552"/>
              <a:ext cx="197466" cy="18932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363825CE-7335-821F-132E-601037ADD1B3}"/>
                </a:ext>
              </a:extLst>
            </p:cNvPr>
            <p:cNvSpPr txBox="1"/>
            <p:nvPr/>
          </p:nvSpPr>
          <p:spPr>
            <a:xfrm>
              <a:off x="2221501" y="4568961"/>
              <a:ext cx="8264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Traitement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5" name="Rectangle : coins arrondis 94">
              <a:extLst>
                <a:ext uri="{FF2B5EF4-FFF2-40B4-BE49-F238E27FC236}">
                  <a16:creationId xmlns:a16="http://schemas.microsoft.com/office/drawing/2014/main" id="{4D8E0EFE-88F7-799D-FE61-3812E4F5E639}"/>
                </a:ext>
              </a:extLst>
            </p:cNvPr>
            <p:cNvSpPr/>
            <p:nvPr/>
          </p:nvSpPr>
          <p:spPr>
            <a:xfrm>
              <a:off x="3159760" y="4595552"/>
              <a:ext cx="197466" cy="189325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410870ED-1E3F-087F-131A-A7163E877D69}"/>
                </a:ext>
              </a:extLst>
            </p:cNvPr>
            <p:cNvSpPr txBox="1"/>
            <p:nvPr/>
          </p:nvSpPr>
          <p:spPr>
            <a:xfrm>
              <a:off x="3302887" y="4568961"/>
              <a:ext cx="148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Stockage &amp; Analytique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7" name="Rectangle : coins arrondis 96">
              <a:extLst>
                <a:ext uri="{FF2B5EF4-FFF2-40B4-BE49-F238E27FC236}">
                  <a16:creationId xmlns:a16="http://schemas.microsoft.com/office/drawing/2014/main" id="{7795F30F-EE63-41FA-8FB0-D753C439D07D}"/>
                </a:ext>
              </a:extLst>
            </p:cNvPr>
            <p:cNvSpPr/>
            <p:nvPr/>
          </p:nvSpPr>
          <p:spPr>
            <a:xfrm>
              <a:off x="4833095" y="4595552"/>
              <a:ext cx="197466" cy="18932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608A1C0B-7641-0F5B-6825-1214B9F9F567}"/>
                </a:ext>
              </a:extLst>
            </p:cNvPr>
            <p:cNvSpPr txBox="1"/>
            <p:nvPr/>
          </p:nvSpPr>
          <p:spPr>
            <a:xfrm>
              <a:off x="4976222" y="4568961"/>
              <a:ext cx="9495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Visualisation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9" name="Rectangle : coins arrondis 98">
              <a:extLst>
                <a:ext uri="{FF2B5EF4-FFF2-40B4-BE49-F238E27FC236}">
                  <a16:creationId xmlns:a16="http://schemas.microsoft.com/office/drawing/2014/main" id="{CD287CE5-6F10-A27E-0BB3-94EFD9EBD8AD}"/>
                </a:ext>
              </a:extLst>
            </p:cNvPr>
            <p:cNvSpPr/>
            <p:nvPr/>
          </p:nvSpPr>
          <p:spPr>
            <a:xfrm>
              <a:off x="5925820" y="4595552"/>
              <a:ext cx="197466" cy="18932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100" name="ZoneTexte 99">
              <a:extLst>
                <a:ext uri="{FF2B5EF4-FFF2-40B4-BE49-F238E27FC236}">
                  <a16:creationId xmlns:a16="http://schemas.microsoft.com/office/drawing/2014/main" id="{275410B1-CA12-B5D4-C17A-7DDC3A08F837}"/>
                </a:ext>
              </a:extLst>
            </p:cNvPr>
            <p:cNvSpPr txBox="1"/>
            <p:nvPr/>
          </p:nvSpPr>
          <p:spPr>
            <a:xfrm>
              <a:off x="6068947" y="4568961"/>
              <a:ext cx="9495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Monitoring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</p:grpSp>
      <p:sp>
        <p:nvSpPr>
          <p:cNvPr id="103" name="Rectangle : coins arrondis 102">
            <a:extLst>
              <a:ext uri="{FF2B5EF4-FFF2-40B4-BE49-F238E27FC236}">
                <a16:creationId xmlns:a16="http://schemas.microsoft.com/office/drawing/2014/main" id="{85A1CE9B-FD08-C5DF-04AC-2E6DE13D8407}"/>
              </a:ext>
            </a:extLst>
          </p:cNvPr>
          <p:cNvSpPr/>
          <p:nvPr/>
        </p:nvSpPr>
        <p:spPr>
          <a:xfrm>
            <a:off x="6274537" y="2846873"/>
            <a:ext cx="1598727" cy="162249"/>
          </a:xfrm>
          <a:prstGeom prst="roundRect">
            <a:avLst/>
          </a:prstGeom>
          <a:solidFill>
            <a:schemeClr val="accent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FFFF00"/>
                </a:solidFill>
              </a:rPr>
              <a:t>Transfert to DHIS2</a:t>
            </a:r>
            <a:endParaRPr lang="fr-FR" sz="1000" noProof="0" dirty="0">
              <a:solidFill>
                <a:srgbClr val="FFFF00"/>
              </a:solidFill>
            </a:endParaRPr>
          </a:p>
        </p:txBody>
      </p:sp>
      <p:pic>
        <p:nvPicPr>
          <p:cNvPr id="1026" name="Picture 2" descr="DHIS2 Capture – Applications sur Google Play">
            <a:extLst>
              <a:ext uri="{FF2B5EF4-FFF2-40B4-BE49-F238E27FC236}">
                <a16:creationId xmlns:a16="http://schemas.microsoft.com/office/drawing/2014/main" id="{028E4EC7-5475-F796-08DE-3A58C6DED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41" y="3783152"/>
            <a:ext cx="660756" cy="4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A6D184EA-2120-4CD2-74D7-13D43976BFD7}"/>
              </a:ext>
            </a:extLst>
          </p:cNvPr>
          <p:cNvSpPr/>
          <p:nvPr/>
        </p:nvSpPr>
        <p:spPr>
          <a:xfrm>
            <a:off x="9048383" y="3870493"/>
            <a:ext cx="675180" cy="26326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rgbClr val="FF0000"/>
                </a:solidFill>
              </a:rPr>
              <a:t>DHIS2</a:t>
            </a:r>
          </a:p>
        </p:txBody>
      </p:sp>
      <p:cxnSp>
        <p:nvCxnSpPr>
          <p:cNvPr id="106" name="Connecteur : en angle 105">
            <a:extLst>
              <a:ext uri="{FF2B5EF4-FFF2-40B4-BE49-F238E27FC236}">
                <a16:creationId xmlns:a16="http://schemas.microsoft.com/office/drawing/2014/main" id="{8E48F63B-78F3-1894-C180-1FFA534EF864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7054621" y="3009122"/>
            <a:ext cx="1095292" cy="1014814"/>
          </a:xfrm>
          <a:prstGeom prst="bentConnector3">
            <a:avLst>
              <a:gd name="adj1" fmla="val 605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 : coins arrondis 112">
            <a:extLst>
              <a:ext uri="{FF2B5EF4-FFF2-40B4-BE49-F238E27FC236}">
                <a16:creationId xmlns:a16="http://schemas.microsoft.com/office/drawing/2014/main" id="{EF899B6A-5F17-CEB0-65C9-AF0FC3D2EBE1}"/>
              </a:ext>
            </a:extLst>
          </p:cNvPr>
          <p:cNvSpPr/>
          <p:nvPr/>
        </p:nvSpPr>
        <p:spPr>
          <a:xfrm>
            <a:off x="2844354" y="4893491"/>
            <a:ext cx="898665" cy="263267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7</a:t>
            </a:r>
          </a:p>
        </p:txBody>
      </p:sp>
      <p:pic>
        <p:nvPicPr>
          <p:cNvPr id="115" name="Image 114" descr="Une image contenant texte, symbole, logo, Police&#10;&#10;Le contenu généré par l’IA peut être incorrect.">
            <a:extLst>
              <a:ext uri="{FF2B5EF4-FFF2-40B4-BE49-F238E27FC236}">
                <a16:creationId xmlns:a16="http://schemas.microsoft.com/office/drawing/2014/main" id="{D40BB015-BB8C-86FA-1357-387AAD0A89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3365" y="4843139"/>
            <a:ext cx="550533" cy="567631"/>
          </a:xfrm>
          <a:prstGeom prst="rect">
            <a:avLst/>
          </a:prstGeom>
        </p:spPr>
      </p:pic>
      <p:sp>
        <p:nvSpPr>
          <p:cNvPr id="116" name="ZoneTexte 115">
            <a:extLst>
              <a:ext uri="{FF2B5EF4-FFF2-40B4-BE49-F238E27FC236}">
                <a16:creationId xmlns:a16="http://schemas.microsoft.com/office/drawing/2014/main" id="{9693A1A6-2C00-5E5F-1F42-DD93F467CBA3}"/>
              </a:ext>
            </a:extLst>
          </p:cNvPr>
          <p:cNvSpPr txBox="1"/>
          <p:nvPr/>
        </p:nvSpPr>
        <p:spPr>
          <a:xfrm>
            <a:off x="3760933" y="4890653"/>
            <a:ext cx="2077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noProof="0" dirty="0"/>
              <a:t>Monitoring &amp; Journalisation</a:t>
            </a:r>
            <a:endParaRPr lang="fr-FR" sz="1000" noProof="0" dirty="0">
              <a:solidFill>
                <a:srgbClr val="0070C0"/>
              </a:solidFill>
            </a:endParaRP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F876F80D-AB5A-D59C-31AF-D26B20744FFA}"/>
              </a:ext>
            </a:extLst>
          </p:cNvPr>
          <p:cNvSpPr/>
          <p:nvPr/>
        </p:nvSpPr>
        <p:spPr>
          <a:xfrm>
            <a:off x="2844354" y="5253350"/>
            <a:ext cx="2156711" cy="42863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9388"/>
            <a:r>
              <a:rPr lang="fr-FR" sz="1000" noProof="0" dirty="0">
                <a:solidFill>
                  <a:schemeClr val="tx1"/>
                </a:solidFill>
              </a:rPr>
              <a:t>Erreurs API</a:t>
            </a:r>
          </a:p>
          <a:p>
            <a:r>
              <a:rPr lang="fr-FR" sz="1000" dirty="0">
                <a:solidFill>
                  <a:schemeClr val="tx1"/>
                </a:solidFill>
              </a:rPr>
              <a:t>Surveillance appels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7B9A00AD-7F98-4FF4-080A-B0CBD748A816}"/>
              </a:ext>
            </a:extLst>
          </p:cNvPr>
          <p:cNvSpPr/>
          <p:nvPr/>
        </p:nvSpPr>
        <p:spPr>
          <a:xfrm>
            <a:off x="5310222" y="5253350"/>
            <a:ext cx="2156711" cy="42863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9388"/>
            <a:r>
              <a:rPr lang="fr-FR" sz="1000" noProof="0" dirty="0">
                <a:solidFill>
                  <a:schemeClr val="tx1"/>
                </a:solidFill>
              </a:rPr>
              <a:t>Tâches CRON</a:t>
            </a:r>
          </a:p>
          <a:p>
            <a:r>
              <a:rPr lang="fr-FR" sz="1000" dirty="0">
                <a:solidFill>
                  <a:schemeClr val="tx1"/>
                </a:solidFill>
              </a:rPr>
              <a:t>Exécution scripts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06E4FDDF-C504-12B1-4E84-6958AA335FB2}"/>
              </a:ext>
            </a:extLst>
          </p:cNvPr>
          <p:cNvSpPr/>
          <p:nvPr/>
        </p:nvSpPr>
        <p:spPr>
          <a:xfrm>
            <a:off x="7776090" y="5253350"/>
            <a:ext cx="2156711" cy="42863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9388"/>
            <a:r>
              <a:rPr lang="fr-FR" sz="1000" noProof="0" dirty="0">
                <a:solidFill>
                  <a:schemeClr val="tx1"/>
                </a:solidFill>
              </a:rPr>
              <a:t>Qualité données</a:t>
            </a:r>
          </a:p>
          <a:p>
            <a:r>
              <a:rPr lang="fr-FR" sz="1000" dirty="0">
                <a:solidFill>
                  <a:schemeClr val="tx1"/>
                </a:solidFill>
              </a:rPr>
              <a:t>Validation intégrité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pic>
        <p:nvPicPr>
          <p:cNvPr id="122" name="Image 121">
            <a:extLst>
              <a:ext uri="{FF2B5EF4-FFF2-40B4-BE49-F238E27FC236}">
                <a16:creationId xmlns:a16="http://schemas.microsoft.com/office/drawing/2014/main" id="{9B0450ED-090C-EB01-CE37-0B555D225A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0651" y="5328054"/>
            <a:ext cx="145431" cy="139614"/>
          </a:xfrm>
          <a:prstGeom prst="rect">
            <a:avLst/>
          </a:prstGeom>
        </p:spPr>
      </p:pic>
      <p:pic>
        <p:nvPicPr>
          <p:cNvPr id="124" name="Image 123" descr="Une image contenant Bleu électrique, symbole&#10;&#10;Le contenu généré par l’IA peut être incorrect.">
            <a:extLst>
              <a:ext uri="{FF2B5EF4-FFF2-40B4-BE49-F238E27FC236}">
                <a16:creationId xmlns:a16="http://schemas.microsoft.com/office/drawing/2014/main" id="{A3814D18-C13F-B1B1-A604-174EE07F15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2727" y="5324482"/>
            <a:ext cx="141742" cy="125993"/>
          </a:xfrm>
          <a:prstGeom prst="rect">
            <a:avLst/>
          </a:prstGeom>
        </p:spPr>
      </p:pic>
      <p:pic>
        <p:nvPicPr>
          <p:cNvPr id="126" name="Image 125" descr="Une image contenant cercle, symbole&#10;&#10;Le contenu généré par l’IA peut être incorrect.">
            <a:extLst>
              <a:ext uri="{FF2B5EF4-FFF2-40B4-BE49-F238E27FC236}">
                <a16:creationId xmlns:a16="http://schemas.microsoft.com/office/drawing/2014/main" id="{A3D1117E-7710-4856-B43D-12089D9041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1004" y="5315494"/>
            <a:ext cx="154742" cy="150936"/>
          </a:xfrm>
          <a:prstGeom prst="rect">
            <a:avLst/>
          </a:prstGeom>
        </p:spPr>
      </p:pic>
      <p:cxnSp>
        <p:nvCxnSpPr>
          <p:cNvPr id="1025" name="Connecteur droit avec flèche 1024">
            <a:extLst>
              <a:ext uri="{FF2B5EF4-FFF2-40B4-BE49-F238E27FC236}">
                <a16:creationId xmlns:a16="http://schemas.microsoft.com/office/drawing/2014/main" id="{E4203755-29E4-C476-3234-DAF031985BAE}"/>
              </a:ext>
            </a:extLst>
          </p:cNvPr>
          <p:cNvCxnSpPr/>
          <p:nvPr/>
        </p:nvCxnSpPr>
        <p:spPr>
          <a:xfrm>
            <a:off x="182880" y="4548847"/>
            <a:ext cx="11744831" cy="0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0363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158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Horatio</dc:creator>
  <cp:lastModifiedBy>Gary Mahamadou Tounkara</cp:lastModifiedBy>
  <cp:revision>5</cp:revision>
  <dcterms:created xsi:type="dcterms:W3CDTF">2025-12-09T12:09:24Z</dcterms:created>
  <dcterms:modified xsi:type="dcterms:W3CDTF">2026-02-21T13:24:16Z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2026-02-21T12:05:56Z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31f32402-d25b-46ab-bee9-d1276684fa54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Thème Office:8</vt:lpwstr>
  </property>
  <property fmtid="{D5CDD505-2E9C-101B-9397-08002B2CF9AE}" pid="11" name="ClassificationContentMarkingFooterText">
    <vt:lpwstr>Official Use Only</vt:lpwstr>
  </property>
</Properties>
</file>